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Robot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1918">
          <p15:clr>
            <a:srgbClr val="A4A3A4"/>
          </p15:clr>
        </p15:guide>
        <p15:guide id="3" pos="3836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1918"/>
        <p:guide pos="3836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font" Target="fonts/Roboto-bold.fntdata"/><Relationship Id="rId10" Type="http://schemas.openxmlformats.org/officeDocument/2006/relationships/slide" Target="slides/slide5.xml"/><Relationship Id="rId21" Type="http://schemas.openxmlformats.org/officeDocument/2006/relationships/font" Target="fonts/Roboto-regular.fntdata"/><Relationship Id="rId13" Type="http://schemas.openxmlformats.org/officeDocument/2006/relationships/slide" Target="slides/slide8.xml"/><Relationship Id="rId24" Type="http://schemas.openxmlformats.org/officeDocument/2006/relationships/font" Target="fonts/Roboto-boldItalic.fntdata"/><Relationship Id="rId12" Type="http://schemas.openxmlformats.org/officeDocument/2006/relationships/slide" Target="slides/slide7.xml"/><Relationship Id="rId23" Type="http://schemas.openxmlformats.org/officeDocument/2006/relationships/font" Target="fonts/Robot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bb551ab6d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bb551ab6d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bb551ab6de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bb551ab6de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bb551ab6de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bb551ab6de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bb551ab6de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bb551ab6de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bb551ab6de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bb551ab6de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bb551ab6de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bb551ab6de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bb551ab6de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bb551ab6de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bb551ab6de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bb551ab6de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bb551ab6de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bb551ab6de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bb551ab6de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bb551ab6de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bb551ab6de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bb551ab6de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bb551ab6de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bb551ab6de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bb551ab6de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bb551ab6de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bb551ab6de_0_6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bb551ab6de_0_6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5200"/>
              <a:buNone/>
              <a:defRPr sz="5200">
                <a:solidFill>
                  <a:srgbClr val="66666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5200"/>
              <a:buNone/>
              <a:defRPr sz="5200">
                <a:solidFill>
                  <a:srgbClr val="66666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5200"/>
              <a:buNone/>
              <a:defRPr sz="5200">
                <a:solidFill>
                  <a:srgbClr val="66666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5200"/>
              <a:buNone/>
              <a:defRPr sz="5200">
                <a:solidFill>
                  <a:srgbClr val="66666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5200"/>
              <a:buNone/>
              <a:defRPr sz="5200">
                <a:solidFill>
                  <a:srgbClr val="66666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5200"/>
              <a:buNone/>
              <a:defRPr sz="5200">
                <a:solidFill>
                  <a:srgbClr val="66666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5200"/>
              <a:buNone/>
              <a:defRPr sz="5200">
                <a:solidFill>
                  <a:srgbClr val="66666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5200"/>
              <a:buNone/>
              <a:defRPr sz="5200">
                <a:solidFill>
                  <a:srgbClr val="66666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5200"/>
              <a:buNone/>
              <a:defRPr sz="5200">
                <a:solidFill>
                  <a:srgbClr val="666666"/>
                </a:solidFill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800"/>
              <a:buNone/>
              <a:defRPr sz="2800">
                <a:solidFill>
                  <a:srgbClr val="666666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800"/>
              <a:buNone/>
              <a:defRPr sz="2800">
                <a:solidFill>
                  <a:srgbClr val="666666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800"/>
              <a:buNone/>
              <a:defRPr sz="2800">
                <a:solidFill>
                  <a:srgbClr val="666666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800"/>
              <a:buNone/>
              <a:defRPr sz="2800">
                <a:solidFill>
                  <a:srgbClr val="666666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800"/>
              <a:buNone/>
              <a:defRPr sz="2800">
                <a:solidFill>
                  <a:srgbClr val="666666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800"/>
              <a:buNone/>
              <a:defRPr sz="2800">
                <a:solidFill>
                  <a:srgbClr val="666666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800"/>
              <a:buNone/>
              <a:defRPr sz="2800">
                <a:solidFill>
                  <a:srgbClr val="666666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800"/>
              <a:buNone/>
              <a:defRPr sz="2800">
                <a:solidFill>
                  <a:srgbClr val="666666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800"/>
              <a:buNone/>
              <a:defRPr sz="2800">
                <a:solidFill>
                  <a:srgbClr val="666666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800"/>
              <a:buFont typeface="Roboto"/>
              <a:buNone/>
              <a:defRPr sz="28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800"/>
              <a:buFont typeface="Roboto"/>
              <a:buNone/>
              <a:defRPr sz="28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800"/>
              <a:buFont typeface="Roboto"/>
              <a:buNone/>
              <a:defRPr sz="28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800"/>
              <a:buFont typeface="Roboto"/>
              <a:buNone/>
              <a:defRPr sz="28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800"/>
              <a:buFont typeface="Roboto"/>
              <a:buNone/>
              <a:defRPr sz="28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800"/>
              <a:buFont typeface="Roboto"/>
              <a:buNone/>
              <a:defRPr sz="28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800"/>
              <a:buFont typeface="Roboto"/>
              <a:buNone/>
              <a:defRPr sz="28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800"/>
              <a:buFont typeface="Roboto"/>
              <a:buNone/>
              <a:defRPr sz="28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800"/>
              <a:buFont typeface="Roboto"/>
              <a:buNone/>
              <a:defRPr sz="28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Roboto"/>
              <a:buChar char="●"/>
              <a:defRPr sz="18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Roboto"/>
              <a:buChar char="○"/>
              <a:defRPr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Roboto"/>
              <a:buChar char="■"/>
              <a:defRPr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Roboto"/>
              <a:buChar char="●"/>
              <a:defRPr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Roboto"/>
              <a:buChar char="○"/>
              <a:defRPr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Roboto"/>
              <a:buChar char="■"/>
              <a:defRPr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Roboto"/>
              <a:buChar char="●"/>
              <a:defRPr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Roboto"/>
              <a:buChar char="○"/>
              <a:defRPr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Roboto"/>
              <a:buChar char="■"/>
              <a:defRPr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180"/>
              <a:t>Bridging the Communication Gap between Teachers &amp; Parents</a:t>
            </a:r>
            <a:endParaRPr sz="418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Creekside Middle School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B7B7B7"/>
                </a:solidFill>
              </a:rPr>
              <a:t>March 2021</a:t>
            </a:r>
            <a:endParaRPr sz="1900">
              <a:solidFill>
                <a:srgbClr val="B7B7B7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/>
          <p:nvPr/>
        </p:nvSpPr>
        <p:spPr>
          <a:xfrm>
            <a:off x="-108850" y="0"/>
            <a:ext cx="31539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1" name="Google Shape;61;p14"/>
          <p:cNvGrpSpPr/>
          <p:nvPr/>
        </p:nvGrpSpPr>
        <p:grpSpPr>
          <a:xfrm>
            <a:off x="385200" y="1956000"/>
            <a:ext cx="2192100" cy="1231500"/>
            <a:chOff x="385200" y="1956000"/>
            <a:chExt cx="2192100" cy="1231500"/>
          </a:xfrm>
        </p:grpSpPr>
        <p:sp>
          <p:nvSpPr>
            <p:cNvPr id="62" name="Google Shape;62;p14"/>
            <p:cNvSpPr txBox="1"/>
            <p:nvPr/>
          </p:nvSpPr>
          <p:spPr>
            <a:xfrm>
              <a:off x="385200" y="2356200"/>
              <a:ext cx="2192100" cy="83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Sporadic</a:t>
              </a:r>
              <a:r>
                <a:rPr lang="en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 or </a:t>
              </a:r>
              <a:r>
                <a:rPr b="1" lang="en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nonexistent</a:t>
              </a:r>
              <a:r>
                <a:rPr lang="en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 communication between teachers &amp; parents</a:t>
              </a:r>
              <a:endPara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3" name="Google Shape;63;p14"/>
            <p:cNvSpPr txBox="1"/>
            <p:nvPr/>
          </p:nvSpPr>
          <p:spPr>
            <a:xfrm>
              <a:off x="385200" y="1956000"/>
              <a:ext cx="21921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Problem:</a:t>
              </a:r>
              <a:endPara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4" name="Google Shape;64;p14"/>
          <p:cNvGrpSpPr/>
          <p:nvPr/>
        </p:nvGrpSpPr>
        <p:grpSpPr>
          <a:xfrm>
            <a:off x="3976900" y="1956000"/>
            <a:ext cx="4094100" cy="1231500"/>
            <a:chOff x="3976900" y="1956000"/>
            <a:chExt cx="4094100" cy="1231500"/>
          </a:xfrm>
        </p:grpSpPr>
        <p:sp>
          <p:nvSpPr>
            <p:cNvPr id="65" name="Google Shape;65;p14"/>
            <p:cNvSpPr txBox="1"/>
            <p:nvPr/>
          </p:nvSpPr>
          <p:spPr>
            <a:xfrm>
              <a:off x="3976900" y="2356200"/>
              <a:ext cx="4094100" cy="83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Help the middle school design an </a:t>
              </a:r>
              <a:r>
                <a:rPr b="1" lang="en">
                  <a:latin typeface="Roboto"/>
                  <a:ea typeface="Roboto"/>
                  <a:cs typeface="Roboto"/>
                  <a:sym typeface="Roboto"/>
                </a:rPr>
                <a:t>app</a:t>
              </a: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 for parents to stay updated on school news and their children’s classes and activities.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6" name="Google Shape;66;p14"/>
            <p:cNvSpPr txBox="1"/>
            <p:nvPr/>
          </p:nvSpPr>
          <p:spPr>
            <a:xfrm>
              <a:off x="3976900" y="1956000"/>
              <a:ext cx="21921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Solution:</a:t>
              </a:r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" presetSubtype="8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1039150" y="2356800"/>
            <a:ext cx="1778700" cy="42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Analytical goals</a:t>
            </a:r>
            <a:endParaRPr b="1" sz="1600"/>
          </a:p>
        </p:txBody>
      </p:sp>
      <p:sp>
        <p:nvSpPr>
          <p:cNvPr id="72" name="Google Shape;72;p15"/>
          <p:cNvSpPr txBox="1"/>
          <p:nvPr/>
        </p:nvSpPr>
        <p:spPr>
          <a:xfrm>
            <a:off x="3167725" y="2356800"/>
            <a:ext cx="5304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u="sng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WHY</a:t>
            </a:r>
            <a:r>
              <a:rPr lang="en" sz="16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" sz="16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Quantity</a:t>
            </a:r>
            <a:r>
              <a:rPr lang="en" sz="16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 impact on student test scores</a:t>
            </a:r>
            <a:endParaRPr sz="16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3167725" y="2858925"/>
            <a:ext cx="5304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u="sng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HOW</a:t>
            </a:r>
            <a:r>
              <a:rPr lang="en" sz="16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: Identify what parents want to know about</a:t>
            </a:r>
            <a:endParaRPr sz="16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1039150" y="2356800"/>
            <a:ext cx="1778700" cy="42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Analytical goals</a:t>
            </a:r>
            <a:endParaRPr b="1" sz="1600"/>
          </a:p>
        </p:txBody>
      </p:sp>
      <p:sp>
        <p:nvSpPr>
          <p:cNvPr id="79" name="Google Shape;79;p16"/>
          <p:cNvSpPr txBox="1"/>
          <p:nvPr/>
        </p:nvSpPr>
        <p:spPr>
          <a:xfrm>
            <a:off x="3167725" y="2356800"/>
            <a:ext cx="5304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u="sng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WHY</a:t>
            </a:r>
            <a:r>
              <a:rPr lang="en" sz="16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: Quantity impact on student test scores</a:t>
            </a:r>
            <a:endParaRPr sz="16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" name="Google Shape;80;p16"/>
          <p:cNvSpPr txBox="1"/>
          <p:nvPr/>
        </p:nvSpPr>
        <p:spPr>
          <a:xfrm>
            <a:off x="3167725" y="2858925"/>
            <a:ext cx="5304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u="sng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HOW</a:t>
            </a:r>
            <a:r>
              <a:rPr lang="en" sz="1600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: Identify what parents want to know about</a:t>
            </a:r>
            <a:endParaRPr sz="1600"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/>
        </p:nvSpPr>
        <p:spPr>
          <a:xfrm>
            <a:off x="4263725" y="4275500"/>
            <a:ext cx="4559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u="sng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Source</a:t>
            </a:r>
            <a:r>
              <a:rPr lang="en" sz="800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: Average test scores from 2004-2018 annual state mandated tests at the end of the year (n=500 students)</a:t>
            </a:r>
            <a:endParaRPr sz="800"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" name="Google Shape;86;p17"/>
          <p:cNvSpPr txBox="1"/>
          <p:nvPr/>
        </p:nvSpPr>
        <p:spPr>
          <a:xfrm>
            <a:off x="435900" y="1863750"/>
            <a:ext cx="30264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Downward Trend</a:t>
            </a:r>
            <a:endParaRPr sz="16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Student test scores have been </a:t>
            </a:r>
            <a:r>
              <a:rPr b="1" lang="en" sz="1600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falling</a:t>
            </a:r>
            <a:r>
              <a:rPr lang="en" sz="16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 since 2004.</a:t>
            </a:r>
            <a:endParaRPr sz="16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87" name="Google Shape;87;p17"/>
          <p:cNvGrpSpPr/>
          <p:nvPr/>
        </p:nvGrpSpPr>
        <p:grpSpPr>
          <a:xfrm>
            <a:off x="4027625" y="924725"/>
            <a:ext cx="4726900" cy="3350775"/>
            <a:chOff x="207525" y="1375975"/>
            <a:chExt cx="4726900" cy="3350775"/>
          </a:xfrm>
        </p:grpSpPr>
        <p:sp>
          <p:nvSpPr>
            <p:cNvPr id="88" name="Google Shape;88;p17"/>
            <p:cNvSpPr txBox="1"/>
            <p:nvPr/>
          </p:nvSpPr>
          <p:spPr>
            <a:xfrm rot="-5400000">
              <a:off x="-488625" y="2762739"/>
              <a:ext cx="2115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666666"/>
                  </a:solidFill>
                  <a:latin typeface="Roboto"/>
                  <a:ea typeface="Roboto"/>
                  <a:cs typeface="Roboto"/>
                  <a:sym typeface="Roboto"/>
                </a:rPr>
                <a:t>Average test scores (%)</a:t>
              </a:r>
              <a:endParaRPr b="1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9" name="Google Shape;89;p17"/>
            <p:cNvSpPr txBox="1"/>
            <p:nvPr/>
          </p:nvSpPr>
          <p:spPr>
            <a:xfrm>
              <a:off x="2133688" y="4326550"/>
              <a:ext cx="13887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666666"/>
                  </a:solidFill>
                  <a:latin typeface="Roboto"/>
                  <a:ea typeface="Roboto"/>
                  <a:cs typeface="Roboto"/>
                  <a:sym typeface="Roboto"/>
                </a:rPr>
                <a:t>Year</a:t>
              </a:r>
              <a:endParaRPr b="1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0" name="Google Shape;90;p17"/>
            <p:cNvSpPr/>
            <p:nvPr/>
          </p:nvSpPr>
          <p:spPr>
            <a:xfrm>
              <a:off x="1063350" y="1714675"/>
              <a:ext cx="3627283" cy="948475"/>
            </a:xfrm>
            <a:custGeom>
              <a:rect b="b" l="l" r="r" t="t"/>
              <a:pathLst>
                <a:path extrusionOk="0" h="37939" w="197430">
                  <a:moveTo>
                    <a:pt x="0" y="0"/>
                  </a:moveTo>
                  <a:cubicBezTo>
                    <a:pt x="4850" y="1289"/>
                    <a:pt x="19891" y="5955"/>
                    <a:pt x="29099" y="7735"/>
                  </a:cubicBezTo>
                  <a:cubicBezTo>
                    <a:pt x="38308" y="9515"/>
                    <a:pt x="41377" y="8779"/>
                    <a:pt x="55251" y="10682"/>
                  </a:cubicBezTo>
                  <a:cubicBezTo>
                    <a:pt x="69125" y="12585"/>
                    <a:pt x="97917" y="15716"/>
                    <a:pt x="112344" y="19154"/>
                  </a:cubicBezTo>
                  <a:cubicBezTo>
                    <a:pt x="126771" y="22592"/>
                    <a:pt x="127630" y="28178"/>
                    <a:pt x="141811" y="31309"/>
                  </a:cubicBezTo>
                  <a:cubicBezTo>
                    <a:pt x="155992" y="34440"/>
                    <a:pt x="188160" y="36834"/>
                    <a:pt x="197430" y="37939"/>
                  </a:cubicBezTo>
                </a:path>
              </a:pathLst>
            </a:custGeom>
            <a:noFill/>
            <a:ln cap="flat" cmpd="sng" w="28575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91" name="Google Shape;91;p17"/>
            <p:cNvSpPr txBox="1"/>
            <p:nvPr/>
          </p:nvSpPr>
          <p:spPr>
            <a:xfrm>
              <a:off x="207525" y="1375975"/>
              <a:ext cx="5778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100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2" name="Google Shape;92;p17"/>
            <p:cNvSpPr txBox="1"/>
            <p:nvPr/>
          </p:nvSpPr>
          <p:spPr>
            <a:xfrm>
              <a:off x="352425" y="4180400"/>
              <a:ext cx="4329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0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3" name="Google Shape;93;p17"/>
            <p:cNvSpPr txBox="1"/>
            <p:nvPr/>
          </p:nvSpPr>
          <p:spPr>
            <a:xfrm>
              <a:off x="721675" y="4342000"/>
              <a:ext cx="5778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2004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4" name="Google Shape;94;p17"/>
            <p:cNvSpPr txBox="1"/>
            <p:nvPr/>
          </p:nvSpPr>
          <p:spPr>
            <a:xfrm>
              <a:off x="4356625" y="4342000"/>
              <a:ext cx="5778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2018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/>
        </p:nvSpPr>
        <p:spPr>
          <a:xfrm>
            <a:off x="4636925" y="3720475"/>
            <a:ext cx="140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Parents in PTA</a:t>
            </a:r>
            <a:endParaRPr sz="12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" name="Google Shape;100;p18"/>
          <p:cNvSpPr txBox="1"/>
          <p:nvPr/>
        </p:nvSpPr>
        <p:spPr>
          <a:xfrm>
            <a:off x="6078850" y="3720475"/>
            <a:ext cx="162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Parents not involved</a:t>
            </a:r>
            <a:endParaRPr sz="12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" name="Google Shape;101;p18"/>
          <p:cNvSpPr txBox="1"/>
          <p:nvPr/>
        </p:nvSpPr>
        <p:spPr>
          <a:xfrm>
            <a:off x="4498800" y="4105175"/>
            <a:ext cx="3421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u="sng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Source</a:t>
            </a:r>
            <a:r>
              <a:rPr lang="en" sz="800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: Average test scores from 2004-2018 annual state mandated tests at the end of the year (n=160 students)</a:t>
            </a:r>
            <a:endParaRPr sz="800"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" name="Google Shape;102;p18"/>
          <p:cNvSpPr txBox="1"/>
          <p:nvPr/>
        </p:nvSpPr>
        <p:spPr>
          <a:xfrm>
            <a:off x="435900" y="1863750"/>
            <a:ext cx="35145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The Reason</a:t>
            </a:r>
            <a:endParaRPr sz="16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Parental involvement has also dropped since 2004, despite a </a:t>
            </a:r>
            <a:r>
              <a:rPr b="1" lang="en" sz="16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+14pp</a:t>
            </a:r>
            <a:r>
              <a:rPr lang="en" sz="16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 impact on average test scores.</a:t>
            </a:r>
            <a:endParaRPr sz="16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" name="Google Shape;103;p18"/>
          <p:cNvSpPr/>
          <p:nvPr/>
        </p:nvSpPr>
        <p:spPr>
          <a:xfrm>
            <a:off x="4991225" y="1719075"/>
            <a:ext cx="699900" cy="1986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8"/>
          <p:cNvSpPr/>
          <p:nvPr/>
        </p:nvSpPr>
        <p:spPr>
          <a:xfrm>
            <a:off x="6539350" y="2271575"/>
            <a:ext cx="699900" cy="1433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8"/>
          <p:cNvSpPr txBox="1"/>
          <p:nvPr/>
        </p:nvSpPr>
        <p:spPr>
          <a:xfrm>
            <a:off x="4991225" y="1719075"/>
            <a:ext cx="699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91%</a:t>
            </a:r>
            <a:endParaRPr sz="1000"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" name="Google Shape;106;p18"/>
          <p:cNvSpPr txBox="1"/>
          <p:nvPr/>
        </p:nvSpPr>
        <p:spPr>
          <a:xfrm>
            <a:off x="6539350" y="2271575"/>
            <a:ext cx="699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77</a:t>
            </a:r>
            <a:r>
              <a:rPr lang="en" sz="1000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%</a:t>
            </a:r>
            <a:endParaRPr sz="1000"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" name="Google Shape;107;p18"/>
          <p:cNvSpPr txBox="1"/>
          <p:nvPr/>
        </p:nvSpPr>
        <p:spPr>
          <a:xfrm>
            <a:off x="7699750" y="1753625"/>
            <a:ext cx="1053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+14pp</a:t>
            </a:r>
            <a:endParaRPr b="1" sz="20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8" name="Google Shape;108;p18"/>
          <p:cNvCxnSpPr/>
          <p:nvPr/>
        </p:nvCxnSpPr>
        <p:spPr>
          <a:xfrm>
            <a:off x="5695900" y="1719075"/>
            <a:ext cx="1896900" cy="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109" name="Google Shape;109;p18"/>
          <p:cNvCxnSpPr/>
          <p:nvPr/>
        </p:nvCxnSpPr>
        <p:spPr>
          <a:xfrm>
            <a:off x="7242925" y="2271575"/>
            <a:ext cx="359100" cy="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10" name="Google Shape;110;p18"/>
          <p:cNvSpPr/>
          <p:nvPr/>
        </p:nvSpPr>
        <p:spPr>
          <a:xfrm>
            <a:off x="7611250" y="1728275"/>
            <a:ext cx="88500" cy="5433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9"/>
          <p:cNvSpPr txBox="1"/>
          <p:nvPr/>
        </p:nvSpPr>
        <p:spPr>
          <a:xfrm>
            <a:off x="640050" y="2356200"/>
            <a:ext cx="7863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Thus, we need to </a:t>
            </a:r>
            <a:r>
              <a:rPr b="1" lang="en" sz="16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increase parental involvement</a:t>
            </a:r>
            <a:r>
              <a:rPr lang="en" sz="16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 to improve student test scores.</a:t>
            </a:r>
            <a:endParaRPr sz="16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0"/>
          <p:cNvSpPr txBox="1"/>
          <p:nvPr>
            <p:ph type="title"/>
          </p:nvPr>
        </p:nvSpPr>
        <p:spPr>
          <a:xfrm>
            <a:off x="1039150" y="2356800"/>
            <a:ext cx="1778700" cy="42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Analytical goals</a:t>
            </a:r>
            <a:endParaRPr b="1" sz="1600"/>
          </a:p>
        </p:txBody>
      </p:sp>
      <p:sp>
        <p:nvSpPr>
          <p:cNvPr id="121" name="Google Shape;121;p20"/>
          <p:cNvSpPr txBox="1"/>
          <p:nvPr/>
        </p:nvSpPr>
        <p:spPr>
          <a:xfrm>
            <a:off x="3167725" y="2356800"/>
            <a:ext cx="5304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u="sng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WHY</a:t>
            </a:r>
            <a:r>
              <a:rPr lang="en" sz="1600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: Quantity impact on student test scores</a:t>
            </a:r>
            <a:endParaRPr sz="1600"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2" name="Google Shape;122;p20"/>
          <p:cNvSpPr txBox="1"/>
          <p:nvPr/>
        </p:nvSpPr>
        <p:spPr>
          <a:xfrm>
            <a:off x="3167725" y="2858925"/>
            <a:ext cx="5304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u="sng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HOW</a:t>
            </a:r>
            <a:r>
              <a:rPr lang="en" sz="16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: Identify what parents want to know about</a:t>
            </a:r>
            <a:endParaRPr sz="16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21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19775" y="1315175"/>
            <a:ext cx="4055316" cy="2513154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1"/>
          <p:cNvSpPr txBox="1"/>
          <p:nvPr/>
        </p:nvSpPr>
        <p:spPr>
          <a:xfrm>
            <a:off x="435900" y="1863750"/>
            <a:ext cx="36342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Student Activities</a:t>
            </a:r>
            <a:endParaRPr sz="16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Most student activities can be grouped into </a:t>
            </a:r>
            <a:r>
              <a:rPr b="1" lang="en" sz="16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3 categories</a:t>
            </a:r>
            <a:r>
              <a:rPr lang="en" sz="16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: sports, academics, and extracurricular clubs.</a:t>
            </a:r>
            <a:endParaRPr sz="16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9" name="Google Shape;129;p21"/>
          <p:cNvSpPr txBox="1"/>
          <p:nvPr/>
        </p:nvSpPr>
        <p:spPr>
          <a:xfrm>
            <a:off x="5375088" y="3911800"/>
            <a:ext cx="2744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u="sng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Source</a:t>
            </a:r>
            <a:r>
              <a:rPr lang="en" sz="800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: 2018 survey asking student what activities they are involved in during school hours (n=350 students)</a:t>
            </a:r>
            <a:endParaRPr sz="800"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2"/>
          <p:cNvSpPr txBox="1"/>
          <p:nvPr/>
        </p:nvSpPr>
        <p:spPr>
          <a:xfrm>
            <a:off x="435900" y="1863750"/>
            <a:ext cx="36342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Prioritize 7th Graders</a:t>
            </a:r>
            <a:endParaRPr sz="16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Currently, </a:t>
            </a:r>
            <a:r>
              <a:rPr b="1" lang="en" sz="1600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7th graders</a:t>
            </a:r>
            <a:r>
              <a:rPr lang="en" sz="16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 receive the least attention with the fewest number of news alerts published.</a:t>
            </a:r>
            <a:endParaRPr sz="16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" name="Google Shape;135;p22"/>
          <p:cNvSpPr txBox="1"/>
          <p:nvPr/>
        </p:nvSpPr>
        <p:spPr>
          <a:xfrm>
            <a:off x="5411913" y="4123625"/>
            <a:ext cx="2744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u="sng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Source</a:t>
            </a:r>
            <a:r>
              <a:rPr lang="en" sz="800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: Number of news alerts published on Creekside Middle School’s website and newsletters in 2018</a:t>
            </a:r>
            <a:endParaRPr sz="800"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" name="Google Shape;136;p22"/>
          <p:cNvSpPr txBox="1"/>
          <p:nvPr/>
        </p:nvSpPr>
        <p:spPr>
          <a:xfrm>
            <a:off x="4636925" y="3720475"/>
            <a:ext cx="140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For </a:t>
            </a:r>
            <a:r>
              <a:rPr lang="en" sz="12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6th graders</a:t>
            </a:r>
            <a:endParaRPr sz="12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" name="Google Shape;137;p22"/>
          <p:cNvSpPr txBox="1"/>
          <p:nvPr/>
        </p:nvSpPr>
        <p:spPr>
          <a:xfrm>
            <a:off x="5902200" y="3720475"/>
            <a:ext cx="162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For 7th graders</a:t>
            </a:r>
            <a:endParaRPr sz="12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8" name="Google Shape;138;p22"/>
          <p:cNvSpPr/>
          <p:nvPr/>
        </p:nvSpPr>
        <p:spPr>
          <a:xfrm>
            <a:off x="4991225" y="2053475"/>
            <a:ext cx="699900" cy="1651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2"/>
          <p:cNvSpPr/>
          <p:nvPr/>
        </p:nvSpPr>
        <p:spPr>
          <a:xfrm>
            <a:off x="6362700" y="2633625"/>
            <a:ext cx="699900" cy="1071300"/>
          </a:xfrm>
          <a:prstGeom prst="rect">
            <a:avLst/>
          </a:prstGeom>
          <a:solidFill>
            <a:srgbClr val="CC0000"/>
          </a:solidFill>
          <a:ln cap="flat" cmpd="sng" w="9525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22"/>
          <p:cNvSpPr txBox="1"/>
          <p:nvPr/>
        </p:nvSpPr>
        <p:spPr>
          <a:xfrm>
            <a:off x="7273675" y="3720475"/>
            <a:ext cx="162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For 8th graders</a:t>
            </a:r>
            <a:endParaRPr sz="12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1" name="Google Shape;141;p22"/>
          <p:cNvSpPr/>
          <p:nvPr/>
        </p:nvSpPr>
        <p:spPr>
          <a:xfrm>
            <a:off x="7734175" y="1718975"/>
            <a:ext cx="699900" cy="1986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2"/>
          <p:cNvSpPr txBox="1"/>
          <p:nvPr/>
        </p:nvSpPr>
        <p:spPr>
          <a:xfrm>
            <a:off x="4991225" y="2053475"/>
            <a:ext cx="699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26</a:t>
            </a:r>
            <a:endParaRPr sz="1000"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3" name="Google Shape;143;p22"/>
          <p:cNvSpPr txBox="1"/>
          <p:nvPr/>
        </p:nvSpPr>
        <p:spPr>
          <a:xfrm>
            <a:off x="7734175" y="1718975"/>
            <a:ext cx="699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30</a:t>
            </a:r>
            <a:endParaRPr sz="1000"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4" name="Google Shape;144;p22"/>
          <p:cNvSpPr txBox="1"/>
          <p:nvPr/>
        </p:nvSpPr>
        <p:spPr>
          <a:xfrm>
            <a:off x="6362700" y="2633625"/>
            <a:ext cx="699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16</a:t>
            </a:r>
            <a:endParaRPr sz="10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3"/>
          <p:cNvSpPr txBox="1"/>
          <p:nvPr/>
        </p:nvSpPr>
        <p:spPr>
          <a:xfrm>
            <a:off x="640050" y="2233200"/>
            <a:ext cx="58335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Thus, we should design our app with </a:t>
            </a:r>
            <a:r>
              <a:rPr b="1" lang="en" sz="16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3 tabs</a:t>
            </a:r>
            <a:r>
              <a:rPr lang="en" sz="16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 for each category and prioritize our test launch for </a:t>
            </a:r>
            <a:r>
              <a:rPr b="1" lang="en" sz="16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parents of 7th graders</a:t>
            </a:r>
            <a:r>
              <a:rPr lang="en" sz="16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6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4"/>
          <p:cNvSpPr txBox="1"/>
          <p:nvPr>
            <p:ph type="title"/>
          </p:nvPr>
        </p:nvSpPr>
        <p:spPr>
          <a:xfrm>
            <a:off x="658150" y="2356800"/>
            <a:ext cx="1778700" cy="42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In Summary</a:t>
            </a:r>
            <a:endParaRPr b="1" sz="1600"/>
          </a:p>
        </p:txBody>
      </p:sp>
      <p:sp>
        <p:nvSpPr>
          <p:cNvPr id="155" name="Google Shape;155;p24"/>
          <p:cNvSpPr txBox="1"/>
          <p:nvPr/>
        </p:nvSpPr>
        <p:spPr>
          <a:xfrm>
            <a:off x="2786725" y="2356800"/>
            <a:ext cx="5884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u="sng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WHY</a:t>
            </a:r>
            <a:r>
              <a:rPr lang="en" sz="16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: Parental involvement correlated with higher test scores.</a:t>
            </a:r>
            <a:endParaRPr sz="1600" u="sng"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" name="Google Shape;156;p24"/>
          <p:cNvSpPr txBox="1"/>
          <p:nvPr/>
        </p:nvSpPr>
        <p:spPr>
          <a:xfrm>
            <a:off x="2786725" y="2858925"/>
            <a:ext cx="5304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u="sng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HOW</a:t>
            </a:r>
            <a:r>
              <a:rPr lang="en" sz="16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: Create 3 activity category tabs in app</a:t>
            </a:r>
            <a:endParaRPr sz="16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 	  Prioritize v1 launch for parents of 7th graders</a:t>
            </a:r>
            <a:endParaRPr sz="16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" name="Google Shape;161;p25"/>
          <p:cNvGrpSpPr/>
          <p:nvPr/>
        </p:nvGrpSpPr>
        <p:grpSpPr>
          <a:xfrm>
            <a:off x="6616600" y="1431525"/>
            <a:ext cx="2043900" cy="2927725"/>
            <a:chOff x="6616600" y="1431525"/>
            <a:chExt cx="2043900" cy="2927725"/>
          </a:xfrm>
        </p:grpSpPr>
        <p:sp>
          <p:nvSpPr>
            <p:cNvPr id="162" name="Google Shape;162;p25"/>
            <p:cNvSpPr/>
            <p:nvPr/>
          </p:nvSpPr>
          <p:spPr>
            <a:xfrm>
              <a:off x="6616600" y="1431550"/>
              <a:ext cx="2043900" cy="2927700"/>
            </a:xfrm>
            <a:prstGeom prst="rect">
              <a:avLst/>
            </a:prstGeom>
            <a:noFill/>
            <a:ln cap="flat" cmpd="sng" w="9525">
              <a:solidFill>
                <a:srgbClr val="0E65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25"/>
            <p:cNvSpPr/>
            <p:nvPr/>
          </p:nvSpPr>
          <p:spPr>
            <a:xfrm flipH="1" rot="10800000">
              <a:off x="6616600" y="1431525"/>
              <a:ext cx="2043900" cy="126900"/>
            </a:xfrm>
            <a:prstGeom prst="rect">
              <a:avLst/>
            </a:prstGeom>
            <a:solidFill>
              <a:srgbClr val="0E65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25"/>
            <p:cNvSpPr txBox="1"/>
            <p:nvPr/>
          </p:nvSpPr>
          <p:spPr>
            <a:xfrm>
              <a:off x="6616600" y="1558425"/>
              <a:ext cx="804600" cy="79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4200">
                  <a:solidFill>
                    <a:srgbClr val="0E65F0"/>
                  </a:solidFill>
                  <a:latin typeface="Roboto"/>
                  <a:ea typeface="Roboto"/>
                  <a:cs typeface="Roboto"/>
                  <a:sym typeface="Roboto"/>
                </a:rPr>
                <a:t>10</a:t>
              </a:r>
              <a:endParaRPr b="1" sz="4200">
                <a:solidFill>
                  <a:srgbClr val="0E65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5" name="Google Shape;165;p25"/>
            <p:cNvSpPr txBox="1"/>
            <p:nvPr/>
          </p:nvSpPr>
          <p:spPr>
            <a:xfrm>
              <a:off x="6682143" y="2506856"/>
              <a:ext cx="352200" cy="17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0E65F0"/>
                  </a:solidFill>
                  <a:latin typeface="Roboto"/>
                  <a:ea typeface="Roboto"/>
                  <a:cs typeface="Roboto"/>
                  <a:sym typeface="Roboto"/>
                </a:rPr>
                <a:t>W1</a:t>
              </a:r>
              <a:endParaRPr sz="700">
                <a:solidFill>
                  <a:srgbClr val="0E65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6" name="Google Shape;166;p25"/>
            <p:cNvSpPr txBox="1"/>
            <p:nvPr/>
          </p:nvSpPr>
          <p:spPr>
            <a:xfrm>
              <a:off x="7210250" y="2506856"/>
              <a:ext cx="352200" cy="17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0E65F0"/>
                  </a:solidFill>
                  <a:latin typeface="Roboto"/>
                  <a:ea typeface="Roboto"/>
                  <a:cs typeface="Roboto"/>
                  <a:sym typeface="Roboto"/>
                </a:rPr>
                <a:t>W2</a:t>
              </a:r>
              <a:endParaRPr sz="700">
                <a:solidFill>
                  <a:srgbClr val="0E65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7" name="Google Shape;167;p25"/>
            <p:cNvSpPr txBox="1"/>
            <p:nvPr/>
          </p:nvSpPr>
          <p:spPr>
            <a:xfrm>
              <a:off x="7705755" y="2506856"/>
              <a:ext cx="352200" cy="17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0E65F0"/>
                  </a:solidFill>
                  <a:latin typeface="Roboto"/>
                  <a:ea typeface="Roboto"/>
                  <a:cs typeface="Roboto"/>
                  <a:sym typeface="Roboto"/>
                </a:rPr>
                <a:t>W3</a:t>
              </a:r>
              <a:endParaRPr sz="700">
                <a:solidFill>
                  <a:srgbClr val="0E65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8" name="Google Shape;168;p25"/>
            <p:cNvSpPr txBox="1"/>
            <p:nvPr/>
          </p:nvSpPr>
          <p:spPr>
            <a:xfrm>
              <a:off x="8242754" y="2506856"/>
              <a:ext cx="352200" cy="17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0E65F0"/>
                  </a:solidFill>
                  <a:latin typeface="Roboto"/>
                  <a:ea typeface="Roboto"/>
                  <a:cs typeface="Roboto"/>
                  <a:sym typeface="Roboto"/>
                </a:rPr>
                <a:t>W4</a:t>
              </a:r>
              <a:endParaRPr sz="700">
                <a:solidFill>
                  <a:srgbClr val="0E65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69" name="Google Shape;169;p25"/>
            <p:cNvCxnSpPr/>
            <p:nvPr/>
          </p:nvCxnSpPr>
          <p:spPr>
            <a:xfrm rot="10800000">
              <a:off x="7130075" y="2506700"/>
              <a:ext cx="0" cy="1848600"/>
            </a:xfrm>
            <a:prstGeom prst="straightConnector1">
              <a:avLst/>
            </a:prstGeom>
            <a:noFill/>
            <a:ln cap="flat" cmpd="sng" w="9525">
              <a:solidFill>
                <a:srgbClr val="0E65F0"/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170" name="Google Shape;170;p25"/>
            <p:cNvCxnSpPr/>
            <p:nvPr/>
          </p:nvCxnSpPr>
          <p:spPr>
            <a:xfrm rot="10800000">
              <a:off x="7640787" y="2506700"/>
              <a:ext cx="0" cy="1848600"/>
            </a:xfrm>
            <a:prstGeom prst="straightConnector1">
              <a:avLst/>
            </a:prstGeom>
            <a:noFill/>
            <a:ln cap="flat" cmpd="sng" w="9525">
              <a:solidFill>
                <a:srgbClr val="0E65F0"/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171" name="Google Shape;171;p25"/>
            <p:cNvCxnSpPr/>
            <p:nvPr/>
          </p:nvCxnSpPr>
          <p:spPr>
            <a:xfrm rot="10800000">
              <a:off x="8151500" y="2506700"/>
              <a:ext cx="0" cy="1848600"/>
            </a:xfrm>
            <a:prstGeom prst="straightConnector1">
              <a:avLst/>
            </a:prstGeom>
            <a:noFill/>
            <a:ln cap="flat" cmpd="sng" w="9525">
              <a:solidFill>
                <a:srgbClr val="0E65F0"/>
              </a:solidFill>
              <a:prstDash val="dot"/>
              <a:round/>
              <a:headEnd len="sm" w="sm" type="none"/>
              <a:tailEnd len="sm" w="sm" type="none"/>
            </a:ln>
          </p:spPr>
        </p:cxnSp>
      </p:grpSp>
      <p:grpSp>
        <p:nvGrpSpPr>
          <p:cNvPr id="172" name="Google Shape;172;p25"/>
          <p:cNvGrpSpPr/>
          <p:nvPr/>
        </p:nvGrpSpPr>
        <p:grpSpPr>
          <a:xfrm>
            <a:off x="4572350" y="1431525"/>
            <a:ext cx="2043900" cy="2927725"/>
            <a:chOff x="4572350" y="1431525"/>
            <a:chExt cx="2043900" cy="2927725"/>
          </a:xfrm>
        </p:grpSpPr>
        <p:sp>
          <p:nvSpPr>
            <p:cNvPr id="173" name="Google Shape;173;p25"/>
            <p:cNvSpPr/>
            <p:nvPr/>
          </p:nvSpPr>
          <p:spPr>
            <a:xfrm>
              <a:off x="4572350" y="1431550"/>
              <a:ext cx="2043900" cy="2927700"/>
            </a:xfrm>
            <a:prstGeom prst="rect">
              <a:avLst/>
            </a:prstGeom>
            <a:noFill/>
            <a:ln cap="flat" cmpd="sng" w="9525">
              <a:solidFill>
                <a:srgbClr val="0D5DD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25"/>
            <p:cNvSpPr/>
            <p:nvPr/>
          </p:nvSpPr>
          <p:spPr>
            <a:xfrm flipH="1" rot="10800000">
              <a:off x="4572350" y="1431525"/>
              <a:ext cx="2043900" cy="126900"/>
            </a:xfrm>
            <a:prstGeom prst="rect">
              <a:avLst/>
            </a:prstGeom>
            <a:solidFill>
              <a:srgbClr val="0D5D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25"/>
            <p:cNvSpPr txBox="1"/>
            <p:nvPr/>
          </p:nvSpPr>
          <p:spPr>
            <a:xfrm>
              <a:off x="4572350" y="1558425"/>
              <a:ext cx="804600" cy="79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4200">
                  <a:solidFill>
                    <a:srgbClr val="0D5DDF"/>
                  </a:solidFill>
                  <a:latin typeface="Roboto"/>
                  <a:ea typeface="Roboto"/>
                  <a:cs typeface="Roboto"/>
                  <a:sym typeface="Roboto"/>
                </a:rPr>
                <a:t>09</a:t>
              </a:r>
              <a:endParaRPr b="1" sz="4200">
                <a:solidFill>
                  <a:srgbClr val="0D5DD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6" name="Google Shape;176;p25"/>
            <p:cNvSpPr txBox="1"/>
            <p:nvPr/>
          </p:nvSpPr>
          <p:spPr>
            <a:xfrm>
              <a:off x="4637893" y="2506856"/>
              <a:ext cx="352200" cy="17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0D5DDF"/>
                  </a:solidFill>
                  <a:latin typeface="Roboto"/>
                  <a:ea typeface="Roboto"/>
                  <a:cs typeface="Roboto"/>
                  <a:sym typeface="Roboto"/>
                </a:rPr>
                <a:t>W1</a:t>
              </a:r>
              <a:endParaRPr sz="700">
                <a:solidFill>
                  <a:srgbClr val="0D5DD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7" name="Google Shape;177;p25"/>
            <p:cNvSpPr txBox="1"/>
            <p:nvPr/>
          </p:nvSpPr>
          <p:spPr>
            <a:xfrm>
              <a:off x="5166000" y="2506856"/>
              <a:ext cx="352200" cy="17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0D5DDF"/>
                  </a:solidFill>
                  <a:latin typeface="Roboto"/>
                  <a:ea typeface="Roboto"/>
                  <a:cs typeface="Roboto"/>
                  <a:sym typeface="Roboto"/>
                </a:rPr>
                <a:t>W2</a:t>
              </a:r>
              <a:endParaRPr sz="700">
                <a:solidFill>
                  <a:srgbClr val="0D5DD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8" name="Google Shape;178;p25"/>
            <p:cNvSpPr txBox="1"/>
            <p:nvPr/>
          </p:nvSpPr>
          <p:spPr>
            <a:xfrm>
              <a:off x="5661505" y="2506856"/>
              <a:ext cx="352200" cy="17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0D5DDF"/>
                  </a:solidFill>
                  <a:latin typeface="Roboto"/>
                  <a:ea typeface="Roboto"/>
                  <a:cs typeface="Roboto"/>
                  <a:sym typeface="Roboto"/>
                </a:rPr>
                <a:t>W3</a:t>
              </a:r>
              <a:endParaRPr sz="700">
                <a:solidFill>
                  <a:srgbClr val="0D5DD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9" name="Google Shape;179;p25"/>
            <p:cNvSpPr txBox="1"/>
            <p:nvPr/>
          </p:nvSpPr>
          <p:spPr>
            <a:xfrm>
              <a:off x="6198504" y="2506856"/>
              <a:ext cx="352200" cy="17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0D5DDF"/>
                  </a:solidFill>
                  <a:latin typeface="Roboto"/>
                  <a:ea typeface="Roboto"/>
                  <a:cs typeface="Roboto"/>
                  <a:sym typeface="Roboto"/>
                </a:rPr>
                <a:t>W4</a:t>
              </a:r>
              <a:endParaRPr sz="700">
                <a:solidFill>
                  <a:srgbClr val="0D5DD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80" name="Google Shape;180;p25"/>
            <p:cNvCxnSpPr/>
            <p:nvPr/>
          </p:nvCxnSpPr>
          <p:spPr>
            <a:xfrm rot="10800000">
              <a:off x="5085825" y="2506700"/>
              <a:ext cx="0" cy="1848600"/>
            </a:xfrm>
            <a:prstGeom prst="straightConnector1">
              <a:avLst/>
            </a:prstGeom>
            <a:noFill/>
            <a:ln cap="flat" cmpd="sng" w="9525">
              <a:solidFill>
                <a:srgbClr val="0D5DDF"/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181" name="Google Shape;181;p25"/>
            <p:cNvCxnSpPr/>
            <p:nvPr/>
          </p:nvCxnSpPr>
          <p:spPr>
            <a:xfrm rot="10800000">
              <a:off x="5596537" y="2506700"/>
              <a:ext cx="0" cy="1848600"/>
            </a:xfrm>
            <a:prstGeom prst="straightConnector1">
              <a:avLst/>
            </a:prstGeom>
            <a:noFill/>
            <a:ln cap="flat" cmpd="sng" w="9525">
              <a:solidFill>
                <a:srgbClr val="0D5DDF"/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182" name="Google Shape;182;p25"/>
            <p:cNvCxnSpPr/>
            <p:nvPr/>
          </p:nvCxnSpPr>
          <p:spPr>
            <a:xfrm rot="10800000">
              <a:off x="6107250" y="2506700"/>
              <a:ext cx="0" cy="1848600"/>
            </a:xfrm>
            <a:prstGeom prst="straightConnector1">
              <a:avLst/>
            </a:prstGeom>
            <a:noFill/>
            <a:ln cap="flat" cmpd="sng" w="9525">
              <a:solidFill>
                <a:srgbClr val="0D5DDF"/>
              </a:solidFill>
              <a:prstDash val="dot"/>
              <a:round/>
              <a:headEnd len="sm" w="sm" type="none"/>
              <a:tailEnd len="sm" w="sm" type="none"/>
            </a:ln>
          </p:spPr>
        </p:cxnSp>
      </p:grpSp>
      <p:grpSp>
        <p:nvGrpSpPr>
          <p:cNvPr id="183" name="Google Shape;183;p25"/>
          <p:cNvGrpSpPr/>
          <p:nvPr/>
        </p:nvGrpSpPr>
        <p:grpSpPr>
          <a:xfrm>
            <a:off x="2528100" y="1431525"/>
            <a:ext cx="2043900" cy="2927725"/>
            <a:chOff x="2528100" y="1431525"/>
            <a:chExt cx="2043900" cy="2927725"/>
          </a:xfrm>
        </p:grpSpPr>
        <p:sp>
          <p:nvSpPr>
            <p:cNvPr id="184" name="Google Shape;184;p25"/>
            <p:cNvSpPr/>
            <p:nvPr/>
          </p:nvSpPr>
          <p:spPr>
            <a:xfrm>
              <a:off x="2528100" y="1431550"/>
              <a:ext cx="2043900" cy="2927700"/>
            </a:xfrm>
            <a:prstGeom prst="rect">
              <a:avLst/>
            </a:prstGeom>
            <a:noFill/>
            <a:ln cap="flat" cmpd="sng" w="9525">
              <a:solidFill>
                <a:srgbClr val="0C58D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25"/>
            <p:cNvSpPr/>
            <p:nvPr/>
          </p:nvSpPr>
          <p:spPr>
            <a:xfrm flipH="1" rot="10800000">
              <a:off x="2528100" y="1431525"/>
              <a:ext cx="2043900" cy="126900"/>
            </a:xfrm>
            <a:prstGeom prst="rect">
              <a:avLst/>
            </a:prstGeom>
            <a:solidFill>
              <a:srgbClr val="0C58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25"/>
            <p:cNvSpPr txBox="1"/>
            <p:nvPr/>
          </p:nvSpPr>
          <p:spPr>
            <a:xfrm>
              <a:off x="2528100" y="1558425"/>
              <a:ext cx="804600" cy="79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4200">
                  <a:solidFill>
                    <a:srgbClr val="0C58D3"/>
                  </a:solidFill>
                  <a:latin typeface="Roboto"/>
                  <a:ea typeface="Roboto"/>
                  <a:cs typeface="Roboto"/>
                  <a:sym typeface="Roboto"/>
                </a:rPr>
                <a:t>08</a:t>
              </a:r>
              <a:endParaRPr b="1" sz="4200">
                <a:solidFill>
                  <a:srgbClr val="0C58D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7" name="Google Shape;187;p25"/>
            <p:cNvSpPr txBox="1"/>
            <p:nvPr/>
          </p:nvSpPr>
          <p:spPr>
            <a:xfrm>
              <a:off x="2593643" y="2506856"/>
              <a:ext cx="352200" cy="17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0C58D3"/>
                  </a:solidFill>
                  <a:latin typeface="Roboto"/>
                  <a:ea typeface="Roboto"/>
                  <a:cs typeface="Roboto"/>
                  <a:sym typeface="Roboto"/>
                </a:rPr>
                <a:t>W1</a:t>
              </a:r>
              <a:endParaRPr sz="700">
                <a:solidFill>
                  <a:srgbClr val="0C58D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8" name="Google Shape;188;p25"/>
            <p:cNvSpPr txBox="1"/>
            <p:nvPr/>
          </p:nvSpPr>
          <p:spPr>
            <a:xfrm>
              <a:off x="3121750" y="2506856"/>
              <a:ext cx="352200" cy="17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0C58D3"/>
                  </a:solidFill>
                  <a:latin typeface="Roboto"/>
                  <a:ea typeface="Roboto"/>
                  <a:cs typeface="Roboto"/>
                  <a:sym typeface="Roboto"/>
                </a:rPr>
                <a:t>W2</a:t>
              </a:r>
              <a:endParaRPr sz="700">
                <a:solidFill>
                  <a:srgbClr val="0C58D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9" name="Google Shape;189;p25"/>
            <p:cNvSpPr txBox="1"/>
            <p:nvPr/>
          </p:nvSpPr>
          <p:spPr>
            <a:xfrm>
              <a:off x="3617255" y="2506856"/>
              <a:ext cx="352200" cy="17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0C58D3"/>
                  </a:solidFill>
                  <a:latin typeface="Roboto"/>
                  <a:ea typeface="Roboto"/>
                  <a:cs typeface="Roboto"/>
                  <a:sym typeface="Roboto"/>
                </a:rPr>
                <a:t>W3</a:t>
              </a:r>
              <a:endParaRPr sz="700">
                <a:solidFill>
                  <a:srgbClr val="0C58D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0" name="Google Shape;190;p25"/>
            <p:cNvSpPr txBox="1"/>
            <p:nvPr/>
          </p:nvSpPr>
          <p:spPr>
            <a:xfrm>
              <a:off x="4154254" y="2506856"/>
              <a:ext cx="352200" cy="17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0C58D3"/>
                  </a:solidFill>
                  <a:latin typeface="Roboto"/>
                  <a:ea typeface="Roboto"/>
                  <a:cs typeface="Roboto"/>
                  <a:sym typeface="Roboto"/>
                </a:rPr>
                <a:t>W4</a:t>
              </a:r>
              <a:endParaRPr sz="700">
                <a:solidFill>
                  <a:srgbClr val="0C58D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91" name="Google Shape;191;p25"/>
            <p:cNvCxnSpPr/>
            <p:nvPr/>
          </p:nvCxnSpPr>
          <p:spPr>
            <a:xfrm rot="10800000">
              <a:off x="3041575" y="2507000"/>
              <a:ext cx="0" cy="1848300"/>
            </a:xfrm>
            <a:prstGeom prst="straightConnector1">
              <a:avLst/>
            </a:prstGeom>
            <a:noFill/>
            <a:ln cap="flat" cmpd="sng" w="9525">
              <a:solidFill>
                <a:srgbClr val="0C58D3"/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192" name="Google Shape;192;p25"/>
            <p:cNvCxnSpPr/>
            <p:nvPr/>
          </p:nvCxnSpPr>
          <p:spPr>
            <a:xfrm rot="10800000">
              <a:off x="3552287" y="2507000"/>
              <a:ext cx="0" cy="1848300"/>
            </a:xfrm>
            <a:prstGeom prst="straightConnector1">
              <a:avLst/>
            </a:prstGeom>
            <a:noFill/>
            <a:ln cap="flat" cmpd="sng" w="9525">
              <a:solidFill>
                <a:srgbClr val="0C58D3"/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193" name="Google Shape;193;p25"/>
            <p:cNvCxnSpPr/>
            <p:nvPr/>
          </p:nvCxnSpPr>
          <p:spPr>
            <a:xfrm rot="10800000">
              <a:off x="4063000" y="2507000"/>
              <a:ext cx="0" cy="1848300"/>
            </a:xfrm>
            <a:prstGeom prst="straightConnector1">
              <a:avLst/>
            </a:prstGeom>
            <a:noFill/>
            <a:ln cap="flat" cmpd="sng" w="9525">
              <a:solidFill>
                <a:srgbClr val="0C58D3"/>
              </a:solidFill>
              <a:prstDash val="dot"/>
              <a:round/>
              <a:headEnd len="sm" w="sm" type="none"/>
              <a:tailEnd len="sm" w="sm" type="none"/>
            </a:ln>
          </p:spPr>
        </p:cxnSp>
      </p:grpSp>
      <p:grpSp>
        <p:nvGrpSpPr>
          <p:cNvPr id="194" name="Google Shape;194;p25"/>
          <p:cNvGrpSpPr/>
          <p:nvPr/>
        </p:nvGrpSpPr>
        <p:grpSpPr>
          <a:xfrm>
            <a:off x="484200" y="1431525"/>
            <a:ext cx="2043900" cy="2927725"/>
            <a:chOff x="3975900" y="1431525"/>
            <a:chExt cx="2043900" cy="2927725"/>
          </a:xfrm>
        </p:grpSpPr>
        <p:sp>
          <p:nvSpPr>
            <p:cNvPr id="195" name="Google Shape;195;p25"/>
            <p:cNvSpPr/>
            <p:nvPr/>
          </p:nvSpPr>
          <p:spPr>
            <a:xfrm>
              <a:off x="3975900" y="1431550"/>
              <a:ext cx="2043900" cy="2927700"/>
            </a:xfrm>
            <a:prstGeom prst="rect">
              <a:avLst/>
            </a:prstGeom>
            <a:noFill/>
            <a:ln cap="flat" cmpd="sng" w="9525">
              <a:solidFill>
                <a:srgbClr val="0944A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25"/>
            <p:cNvSpPr/>
            <p:nvPr/>
          </p:nvSpPr>
          <p:spPr>
            <a:xfrm flipH="1" rot="10800000">
              <a:off x="3975900" y="1431525"/>
              <a:ext cx="2043900" cy="126900"/>
            </a:xfrm>
            <a:prstGeom prst="rect">
              <a:avLst/>
            </a:prstGeom>
            <a:solidFill>
              <a:srgbClr val="0944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25"/>
            <p:cNvSpPr txBox="1"/>
            <p:nvPr/>
          </p:nvSpPr>
          <p:spPr>
            <a:xfrm>
              <a:off x="3975900" y="1558425"/>
              <a:ext cx="804600" cy="79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4200">
                  <a:solidFill>
                    <a:srgbClr val="0944A1"/>
                  </a:solidFill>
                  <a:latin typeface="Roboto"/>
                  <a:ea typeface="Roboto"/>
                  <a:cs typeface="Roboto"/>
                  <a:sym typeface="Roboto"/>
                </a:rPr>
                <a:t>07</a:t>
              </a:r>
              <a:endParaRPr b="1" sz="4200">
                <a:solidFill>
                  <a:srgbClr val="0944A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8" name="Google Shape;198;p25"/>
            <p:cNvSpPr txBox="1"/>
            <p:nvPr/>
          </p:nvSpPr>
          <p:spPr>
            <a:xfrm>
              <a:off x="4098775" y="2506850"/>
              <a:ext cx="331200" cy="17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0944A1"/>
                  </a:solidFill>
                  <a:latin typeface="Roboto"/>
                  <a:ea typeface="Roboto"/>
                  <a:cs typeface="Roboto"/>
                  <a:sym typeface="Roboto"/>
                </a:rPr>
                <a:t>W1</a:t>
              </a:r>
              <a:endParaRPr sz="700">
                <a:solidFill>
                  <a:srgbClr val="0944A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9" name="Google Shape;199;p25"/>
            <p:cNvSpPr txBox="1"/>
            <p:nvPr/>
          </p:nvSpPr>
          <p:spPr>
            <a:xfrm>
              <a:off x="4595225" y="2506850"/>
              <a:ext cx="331200" cy="17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0944A1"/>
                  </a:solidFill>
                  <a:latin typeface="Roboto"/>
                  <a:ea typeface="Roboto"/>
                  <a:cs typeface="Roboto"/>
                  <a:sym typeface="Roboto"/>
                </a:rPr>
                <a:t>W2</a:t>
              </a:r>
              <a:endParaRPr sz="700">
                <a:solidFill>
                  <a:srgbClr val="0944A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0" name="Google Shape;200;p25"/>
            <p:cNvSpPr txBox="1"/>
            <p:nvPr/>
          </p:nvSpPr>
          <p:spPr>
            <a:xfrm>
              <a:off x="5061028" y="2506850"/>
              <a:ext cx="331200" cy="17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0944A1"/>
                  </a:solidFill>
                  <a:latin typeface="Roboto"/>
                  <a:ea typeface="Roboto"/>
                  <a:cs typeface="Roboto"/>
                  <a:sym typeface="Roboto"/>
                </a:rPr>
                <a:t>W3</a:t>
              </a:r>
              <a:endParaRPr sz="700">
                <a:solidFill>
                  <a:srgbClr val="0944A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1" name="Google Shape;201;p25"/>
            <p:cNvSpPr txBox="1"/>
            <p:nvPr/>
          </p:nvSpPr>
          <p:spPr>
            <a:xfrm>
              <a:off x="5565837" y="2506850"/>
              <a:ext cx="331200" cy="17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0944A1"/>
                  </a:solidFill>
                  <a:latin typeface="Roboto"/>
                  <a:ea typeface="Roboto"/>
                  <a:cs typeface="Roboto"/>
                  <a:sym typeface="Roboto"/>
                </a:rPr>
                <a:t>W4</a:t>
              </a:r>
              <a:endParaRPr sz="700">
                <a:solidFill>
                  <a:srgbClr val="0944A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02" name="Google Shape;202;p25"/>
            <p:cNvCxnSpPr/>
            <p:nvPr/>
          </p:nvCxnSpPr>
          <p:spPr>
            <a:xfrm rot="10800000">
              <a:off x="4489375" y="2507000"/>
              <a:ext cx="0" cy="1848300"/>
            </a:xfrm>
            <a:prstGeom prst="straightConnector1">
              <a:avLst/>
            </a:prstGeom>
            <a:noFill/>
            <a:ln cap="flat" cmpd="sng" w="9525">
              <a:solidFill>
                <a:srgbClr val="0944A1"/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203" name="Google Shape;203;p25"/>
            <p:cNvCxnSpPr/>
            <p:nvPr/>
          </p:nvCxnSpPr>
          <p:spPr>
            <a:xfrm rot="10800000">
              <a:off x="5000087" y="2507000"/>
              <a:ext cx="0" cy="1848300"/>
            </a:xfrm>
            <a:prstGeom prst="straightConnector1">
              <a:avLst/>
            </a:prstGeom>
            <a:noFill/>
            <a:ln cap="flat" cmpd="sng" w="9525">
              <a:solidFill>
                <a:srgbClr val="0944A1"/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204" name="Google Shape;204;p25"/>
            <p:cNvCxnSpPr/>
            <p:nvPr/>
          </p:nvCxnSpPr>
          <p:spPr>
            <a:xfrm rot="10800000">
              <a:off x="5510800" y="2507000"/>
              <a:ext cx="0" cy="1848300"/>
            </a:xfrm>
            <a:prstGeom prst="straightConnector1">
              <a:avLst/>
            </a:prstGeom>
            <a:noFill/>
            <a:ln cap="flat" cmpd="sng" w="9525">
              <a:solidFill>
                <a:srgbClr val="0944A1"/>
              </a:solidFill>
              <a:prstDash val="dot"/>
              <a:round/>
              <a:headEnd len="sm" w="sm" type="none"/>
              <a:tailEnd len="sm" w="sm" type="none"/>
            </a:ln>
          </p:spPr>
        </p:cxnSp>
      </p:grpSp>
      <p:sp>
        <p:nvSpPr>
          <p:cNvPr id="205" name="Google Shape;205;p25"/>
          <p:cNvSpPr/>
          <p:nvPr/>
        </p:nvSpPr>
        <p:spPr>
          <a:xfrm>
            <a:off x="479725" y="2743100"/>
            <a:ext cx="1030800" cy="207300"/>
          </a:xfrm>
          <a:prstGeom prst="rect">
            <a:avLst/>
          </a:prstGeom>
          <a:solidFill>
            <a:srgbClr val="0944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Analysis</a:t>
            </a:r>
            <a:endParaRPr sz="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6" name="Google Shape;206;p25"/>
          <p:cNvSpPr/>
          <p:nvPr/>
        </p:nvSpPr>
        <p:spPr>
          <a:xfrm>
            <a:off x="1510524" y="3066325"/>
            <a:ext cx="1030800" cy="207300"/>
          </a:xfrm>
          <a:prstGeom prst="rect">
            <a:avLst/>
          </a:prstGeom>
          <a:solidFill>
            <a:srgbClr val="0944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Present Analysis</a:t>
            </a:r>
            <a:endParaRPr sz="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7" name="Google Shape;207;p25"/>
          <p:cNvSpPr/>
          <p:nvPr/>
        </p:nvSpPr>
        <p:spPr>
          <a:xfrm>
            <a:off x="5589925" y="3712775"/>
            <a:ext cx="2043900" cy="207300"/>
          </a:xfrm>
          <a:prstGeom prst="rect">
            <a:avLst/>
          </a:prstGeom>
          <a:solidFill>
            <a:srgbClr val="0D5D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Testing &amp; iteration</a:t>
            </a:r>
            <a:endParaRPr sz="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8" name="Google Shape;208;p25"/>
          <p:cNvSpPr/>
          <p:nvPr/>
        </p:nvSpPr>
        <p:spPr>
          <a:xfrm>
            <a:off x="7635600" y="4036000"/>
            <a:ext cx="523200" cy="207300"/>
          </a:xfrm>
          <a:prstGeom prst="rect">
            <a:avLst/>
          </a:prstGeom>
          <a:solidFill>
            <a:srgbClr val="0E65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Launch</a:t>
            </a:r>
            <a:endParaRPr sz="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9" name="Google Shape;209;p25"/>
          <p:cNvSpPr/>
          <p:nvPr/>
        </p:nvSpPr>
        <p:spPr>
          <a:xfrm>
            <a:off x="2528100" y="3380350"/>
            <a:ext cx="3060000" cy="207300"/>
          </a:xfrm>
          <a:prstGeom prst="rect">
            <a:avLst/>
          </a:prstGeom>
          <a:solidFill>
            <a:srgbClr val="0C58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Build v1 app</a:t>
            </a:r>
            <a:endParaRPr sz="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0" name="Google Shape;210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Timeline of Events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6"/>
          <p:cNvSpPr txBox="1"/>
          <p:nvPr/>
        </p:nvSpPr>
        <p:spPr>
          <a:xfrm>
            <a:off x="905550" y="1518500"/>
            <a:ext cx="36342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Further Exploratio</a:t>
            </a:r>
            <a:r>
              <a:rPr b="1" lang="en" sz="16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n for v2</a:t>
            </a:r>
            <a:endParaRPr sz="16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What is the impact of having multiple children enrolled in the same school?</a:t>
            </a:r>
            <a:endParaRPr sz="16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What is the impact of having one caretaker involved vs. multiple?</a:t>
            </a:r>
            <a:endParaRPr sz="16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66666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7"/>
          <p:cNvSpPr txBox="1"/>
          <p:nvPr/>
        </p:nvSpPr>
        <p:spPr>
          <a:xfrm>
            <a:off x="838000" y="2356200"/>
            <a:ext cx="2007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Thank You.</a:t>
            </a:r>
            <a:endParaRPr sz="1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